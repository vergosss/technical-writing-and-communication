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6F99EC5-DF05-486A-AA8E-04F0B2FF5E95}" type="datetimeFigureOut">
              <a:rPr lang="en-US" smtClean="0"/>
              <a:t>6/2/2022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344DCAA-60B5-4AAE-B777-1D302A791DF5}" type="slidenum">
              <a:rPr lang="en-US" smtClean="0"/>
              <a:t>‹#›</a:t>
            </a:fld>
            <a:endParaRPr lang="en-US" dirty="0"/>
          </a:p>
        </p:txBody>
      </p:sp>
    </p:spTree>
    <p:extLst>
      <p:ext uri="{BB962C8B-B14F-4D97-AF65-F5344CB8AC3E}">
        <p14:creationId xmlns:p14="http://schemas.microsoft.com/office/powerpoint/2010/main" val="3903367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F99EC5-DF05-486A-AA8E-04F0B2FF5E95}" type="datetimeFigureOut">
              <a:rPr lang="en-US" smtClean="0"/>
              <a:t>6/2/2022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344DCAA-60B5-4AAE-B777-1D302A791DF5}" type="slidenum">
              <a:rPr lang="en-US" smtClean="0"/>
              <a:t>‹#›</a:t>
            </a:fld>
            <a:endParaRPr lang="en-US" dirty="0"/>
          </a:p>
        </p:txBody>
      </p:sp>
    </p:spTree>
    <p:extLst>
      <p:ext uri="{BB962C8B-B14F-4D97-AF65-F5344CB8AC3E}">
        <p14:creationId xmlns:p14="http://schemas.microsoft.com/office/powerpoint/2010/main" val="7920465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6F99EC5-DF05-486A-AA8E-04F0B2FF5E95}" type="datetimeFigureOut">
              <a:rPr lang="en-US" smtClean="0"/>
              <a:t>6/2/2022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344DCAA-60B5-4AAE-B777-1D302A791DF5}" type="slidenum">
              <a:rPr lang="en-US" smtClean="0"/>
              <a:t>‹#›</a:t>
            </a:fld>
            <a:endParaRPr lang="en-US" dirty="0"/>
          </a:p>
        </p:txBody>
      </p:sp>
    </p:spTree>
    <p:extLst>
      <p:ext uri="{BB962C8B-B14F-4D97-AF65-F5344CB8AC3E}">
        <p14:creationId xmlns:p14="http://schemas.microsoft.com/office/powerpoint/2010/main" val="34902859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6F99EC5-DF05-486A-AA8E-04F0B2FF5E95}" type="datetimeFigureOut">
              <a:rPr lang="en-US" smtClean="0"/>
              <a:t>6/2/2022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344DCAA-60B5-4AAE-B777-1D302A791DF5}" type="slidenum">
              <a:rPr lang="en-US" smtClean="0"/>
              <a:t>‹#›</a:t>
            </a:fld>
            <a:endParaRPr lang="en-US" dirty="0"/>
          </a:p>
        </p:txBody>
      </p:sp>
    </p:spTree>
    <p:extLst>
      <p:ext uri="{BB962C8B-B14F-4D97-AF65-F5344CB8AC3E}">
        <p14:creationId xmlns:p14="http://schemas.microsoft.com/office/powerpoint/2010/main" val="20446089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6F99EC5-DF05-486A-AA8E-04F0B2FF5E95}" type="datetimeFigureOut">
              <a:rPr lang="en-US" smtClean="0"/>
              <a:t>6/2/2022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344DCAA-60B5-4AAE-B777-1D302A791DF5}" type="slidenum">
              <a:rPr lang="en-US" smtClean="0"/>
              <a:t>‹#›</a:t>
            </a:fld>
            <a:endParaRPr lang="en-US" dirty="0"/>
          </a:p>
        </p:txBody>
      </p:sp>
    </p:spTree>
    <p:extLst>
      <p:ext uri="{BB962C8B-B14F-4D97-AF65-F5344CB8AC3E}">
        <p14:creationId xmlns:p14="http://schemas.microsoft.com/office/powerpoint/2010/main" val="30655318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6F99EC5-DF05-486A-AA8E-04F0B2FF5E95}" type="datetimeFigureOut">
              <a:rPr lang="en-US" smtClean="0"/>
              <a:t>6/2/2022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344DCAA-60B5-4AAE-B777-1D302A791DF5}" type="slidenum">
              <a:rPr lang="en-US" smtClean="0"/>
              <a:t>‹#›</a:t>
            </a:fld>
            <a:endParaRPr lang="en-US" dirty="0"/>
          </a:p>
        </p:txBody>
      </p:sp>
    </p:spTree>
    <p:extLst>
      <p:ext uri="{BB962C8B-B14F-4D97-AF65-F5344CB8AC3E}">
        <p14:creationId xmlns:p14="http://schemas.microsoft.com/office/powerpoint/2010/main" val="39126030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F99EC5-DF05-486A-AA8E-04F0B2FF5E95}" type="datetimeFigureOut">
              <a:rPr lang="en-US" smtClean="0"/>
              <a:t>6/2/2022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344DCAA-60B5-4AAE-B777-1D302A791DF5}" type="slidenum">
              <a:rPr lang="en-US" smtClean="0"/>
              <a:t>‹#›</a:t>
            </a:fld>
            <a:endParaRPr lang="en-US" dirty="0"/>
          </a:p>
        </p:txBody>
      </p:sp>
    </p:spTree>
    <p:extLst>
      <p:ext uri="{BB962C8B-B14F-4D97-AF65-F5344CB8AC3E}">
        <p14:creationId xmlns:p14="http://schemas.microsoft.com/office/powerpoint/2010/main" val="39194117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F99EC5-DF05-486A-AA8E-04F0B2FF5E95}" type="datetimeFigureOut">
              <a:rPr lang="en-US" smtClean="0"/>
              <a:t>6/2/2022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344DCAA-60B5-4AAE-B777-1D302A791DF5}" type="slidenum">
              <a:rPr lang="en-US" smtClean="0"/>
              <a:t>‹#›</a:t>
            </a:fld>
            <a:endParaRPr lang="en-US" dirty="0"/>
          </a:p>
        </p:txBody>
      </p:sp>
    </p:spTree>
    <p:extLst>
      <p:ext uri="{BB962C8B-B14F-4D97-AF65-F5344CB8AC3E}">
        <p14:creationId xmlns:p14="http://schemas.microsoft.com/office/powerpoint/2010/main" val="926779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F99EC5-DF05-486A-AA8E-04F0B2FF5E95}" type="datetimeFigureOut">
              <a:rPr lang="en-US" smtClean="0"/>
              <a:t>6/2/2022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344DCAA-60B5-4AAE-B777-1D302A791DF5}" type="slidenum">
              <a:rPr lang="en-US" smtClean="0"/>
              <a:t>‹#›</a:t>
            </a:fld>
            <a:endParaRPr lang="en-US" dirty="0"/>
          </a:p>
        </p:txBody>
      </p:sp>
    </p:spTree>
    <p:extLst>
      <p:ext uri="{BB962C8B-B14F-4D97-AF65-F5344CB8AC3E}">
        <p14:creationId xmlns:p14="http://schemas.microsoft.com/office/powerpoint/2010/main" val="155409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6F99EC5-DF05-486A-AA8E-04F0B2FF5E95}" type="datetimeFigureOut">
              <a:rPr lang="en-US" smtClean="0"/>
              <a:t>6/2/2022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344DCAA-60B5-4AAE-B777-1D302A791DF5}" type="slidenum">
              <a:rPr lang="en-US" smtClean="0"/>
              <a:t>‹#›</a:t>
            </a:fld>
            <a:endParaRPr lang="en-US" dirty="0"/>
          </a:p>
        </p:txBody>
      </p:sp>
    </p:spTree>
    <p:extLst>
      <p:ext uri="{BB962C8B-B14F-4D97-AF65-F5344CB8AC3E}">
        <p14:creationId xmlns:p14="http://schemas.microsoft.com/office/powerpoint/2010/main" val="17799068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6F99EC5-DF05-486A-AA8E-04F0B2FF5E95}" type="datetimeFigureOut">
              <a:rPr lang="en-US" smtClean="0"/>
              <a:t>6/2/2022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344DCAA-60B5-4AAE-B777-1D302A791DF5}" type="slidenum">
              <a:rPr lang="en-US" smtClean="0"/>
              <a:t>‹#›</a:t>
            </a:fld>
            <a:endParaRPr lang="en-US" dirty="0"/>
          </a:p>
        </p:txBody>
      </p:sp>
    </p:spTree>
    <p:extLst>
      <p:ext uri="{BB962C8B-B14F-4D97-AF65-F5344CB8AC3E}">
        <p14:creationId xmlns:p14="http://schemas.microsoft.com/office/powerpoint/2010/main" val="24926631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6F99EC5-DF05-486A-AA8E-04F0B2FF5E95}" type="datetimeFigureOut">
              <a:rPr lang="en-US" smtClean="0"/>
              <a:t>6/2/2022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344DCAA-60B5-4AAE-B777-1D302A791DF5}" type="slidenum">
              <a:rPr lang="en-US" smtClean="0"/>
              <a:t>‹#›</a:t>
            </a:fld>
            <a:endParaRPr lang="en-US" dirty="0"/>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507649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6F99EC5-DF05-486A-AA8E-04F0B2FF5E95}" type="datetimeFigureOut">
              <a:rPr lang="en-US" smtClean="0"/>
              <a:t>6/2/2022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344DCAA-60B5-4AAE-B777-1D302A791DF5}" type="slidenum">
              <a:rPr lang="en-US" smtClean="0"/>
              <a:t>‹#›</a:t>
            </a:fld>
            <a:endParaRPr lang="en-US" dirty="0"/>
          </a:p>
        </p:txBody>
      </p:sp>
    </p:spTree>
    <p:extLst>
      <p:ext uri="{BB962C8B-B14F-4D97-AF65-F5344CB8AC3E}">
        <p14:creationId xmlns:p14="http://schemas.microsoft.com/office/powerpoint/2010/main" val="1896004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6F99EC5-DF05-486A-AA8E-04F0B2FF5E95}" type="datetimeFigureOut">
              <a:rPr lang="en-US" smtClean="0"/>
              <a:t>6/2/2022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344DCAA-60B5-4AAE-B777-1D302A791DF5}" type="slidenum">
              <a:rPr lang="en-US" smtClean="0"/>
              <a:t>‹#›</a:t>
            </a:fld>
            <a:endParaRPr lang="en-US" dirty="0"/>
          </a:p>
        </p:txBody>
      </p:sp>
    </p:spTree>
    <p:extLst>
      <p:ext uri="{BB962C8B-B14F-4D97-AF65-F5344CB8AC3E}">
        <p14:creationId xmlns:p14="http://schemas.microsoft.com/office/powerpoint/2010/main" val="15677106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6F99EC5-DF05-486A-AA8E-04F0B2FF5E95}" type="datetimeFigureOut">
              <a:rPr lang="en-US" smtClean="0"/>
              <a:t>6/2/2022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344DCAA-60B5-4AAE-B777-1D302A791DF5}" type="slidenum">
              <a:rPr lang="en-US" smtClean="0"/>
              <a:t>‹#›</a:t>
            </a:fld>
            <a:endParaRPr lang="en-US" dirty="0"/>
          </a:p>
        </p:txBody>
      </p:sp>
    </p:spTree>
    <p:extLst>
      <p:ext uri="{BB962C8B-B14F-4D97-AF65-F5344CB8AC3E}">
        <p14:creationId xmlns:p14="http://schemas.microsoft.com/office/powerpoint/2010/main" val="13043396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F99EC5-DF05-486A-AA8E-04F0B2FF5E95}" type="datetimeFigureOut">
              <a:rPr lang="en-US" smtClean="0"/>
              <a:t>6/2/2022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344DCAA-60B5-4AAE-B777-1D302A791DF5}" type="slidenum">
              <a:rPr lang="en-US" smtClean="0"/>
              <a:t>‹#›</a:t>
            </a:fld>
            <a:endParaRPr lang="en-US" dirty="0"/>
          </a:p>
        </p:txBody>
      </p:sp>
    </p:spTree>
    <p:extLst>
      <p:ext uri="{BB962C8B-B14F-4D97-AF65-F5344CB8AC3E}">
        <p14:creationId xmlns:p14="http://schemas.microsoft.com/office/powerpoint/2010/main" val="7662298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F99EC5-DF05-486A-AA8E-04F0B2FF5E95}" type="datetimeFigureOut">
              <a:rPr lang="en-US" smtClean="0"/>
              <a:t>6/2/2022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344DCAA-60B5-4AAE-B777-1D302A791DF5}" type="slidenum">
              <a:rPr lang="en-US" smtClean="0"/>
              <a:t>‹#›</a:t>
            </a:fld>
            <a:endParaRPr lang="en-US" dirty="0"/>
          </a:p>
        </p:txBody>
      </p:sp>
    </p:spTree>
    <p:extLst>
      <p:ext uri="{BB962C8B-B14F-4D97-AF65-F5344CB8AC3E}">
        <p14:creationId xmlns:p14="http://schemas.microsoft.com/office/powerpoint/2010/main" val="32112425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76F99EC5-DF05-486A-AA8E-04F0B2FF5E95}" type="datetimeFigureOut">
              <a:rPr lang="en-US" smtClean="0"/>
              <a:t>6/2/2022</a:t>
            </a:fld>
            <a:endParaRPr lang="en-US" dirty="0"/>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6344DCAA-60B5-4AAE-B777-1D302A791DF5}" type="slidenum">
              <a:rPr lang="en-US" smtClean="0"/>
              <a:t>‹#›</a:t>
            </a:fld>
            <a:endParaRPr lang="en-US" dirty="0"/>
          </a:p>
        </p:txBody>
      </p:sp>
    </p:spTree>
    <p:extLst>
      <p:ext uri="{BB962C8B-B14F-4D97-AF65-F5344CB8AC3E}">
        <p14:creationId xmlns:p14="http://schemas.microsoft.com/office/powerpoint/2010/main" val="57385861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5AA28-FEB8-E0F4-5D35-70071EFDA86F}"/>
              </a:ext>
            </a:extLst>
          </p:cNvPr>
          <p:cNvSpPr>
            <a:spLocks noGrp="1"/>
          </p:cNvSpPr>
          <p:nvPr>
            <p:ph type="ctrTitle"/>
          </p:nvPr>
        </p:nvSpPr>
        <p:spPr>
          <a:xfrm>
            <a:off x="1370693" y="338305"/>
            <a:ext cx="9440034" cy="1828801"/>
          </a:xfrm>
        </p:spPr>
        <p:txBody>
          <a:bodyPr>
            <a:normAutofit fontScale="90000"/>
          </a:bodyPr>
          <a:lstStyle/>
          <a:p>
            <a:r>
              <a:rPr lang="el-GR" dirty="0"/>
              <a:t>Ηλεκτρονική Παρακολούθηση: Μία νέα πρόκληση στον 21</a:t>
            </a:r>
            <a:r>
              <a:rPr lang="el-GR" baseline="30000" dirty="0"/>
              <a:t>ο</a:t>
            </a:r>
            <a:r>
              <a:rPr lang="el-GR" dirty="0"/>
              <a:t> αιώνα</a:t>
            </a:r>
            <a:endParaRPr lang="en-US" dirty="0"/>
          </a:p>
        </p:txBody>
      </p:sp>
      <p:sp>
        <p:nvSpPr>
          <p:cNvPr id="3" name="Subtitle 2">
            <a:extLst>
              <a:ext uri="{FF2B5EF4-FFF2-40B4-BE49-F238E27FC236}">
                <a16:creationId xmlns:a16="http://schemas.microsoft.com/office/drawing/2014/main" id="{9FA3A90F-574A-D30B-E01F-B89BA8A52C00}"/>
              </a:ext>
            </a:extLst>
          </p:cNvPr>
          <p:cNvSpPr>
            <a:spLocks noGrp="1"/>
          </p:cNvSpPr>
          <p:nvPr>
            <p:ph type="subTitle" idx="1"/>
          </p:nvPr>
        </p:nvSpPr>
        <p:spPr>
          <a:xfrm>
            <a:off x="1370693" y="3598339"/>
            <a:ext cx="9440034" cy="1828801"/>
          </a:xfrm>
        </p:spPr>
        <p:txBody>
          <a:bodyPr>
            <a:normAutofit/>
          </a:bodyPr>
          <a:lstStyle/>
          <a:p>
            <a:pPr algn="l"/>
            <a:r>
              <a:rPr lang="el-GR" sz="2800" dirty="0"/>
              <a:t>Τσούλος Βασίλειος 1072605,</a:t>
            </a:r>
          </a:p>
          <a:p>
            <a:pPr algn="l"/>
            <a:r>
              <a:rPr lang="el-GR" sz="2800" dirty="0"/>
              <a:t>Βέργος Γεώργιος 1072604,</a:t>
            </a:r>
          </a:p>
          <a:p>
            <a:pPr algn="l"/>
            <a:r>
              <a:rPr lang="el-GR" sz="2800" dirty="0"/>
              <a:t>Βλάχος Σταύρος 1072489</a:t>
            </a:r>
            <a:endParaRPr lang="en-US" sz="2800" dirty="0"/>
          </a:p>
        </p:txBody>
      </p:sp>
    </p:spTree>
    <p:extLst>
      <p:ext uri="{BB962C8B-B14F-4D97-AF65-F5344CB8AC3E}">
        <p14:creationId xmlns:p14="http://schemas.microsoft.com/office/powerpoint/2010/main" val="12245816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12AAD-6C62-C678-95CE-3BAE58949854}"/>
              </a:ext>
            </a:extLst>
          </p:cNvPr>
          <p:cNvSpPr>
            <a:spLocks noGrp="1"/>
          </p:cNvSpPr>
          <p:nvPr>
            <p:ph type="title"/>
          </p:nvPr>
        </p:nvSpPr>
        <p:spPr/>
        <p:txBody>
          <a:bodyPr/>
          <a:lstStyle/>
          <a:p>
            <a:r>
              <a:rPr lang="el-GR" dirty="0"/>
              <a:t>Νέα μορφή παρακολούθησης</a:t>
            </a:r>
            <a:endParaRPr lang="en-US" dirty="0"/>
          </a:p>
        </p:txBody>
      </p:sp>
      <p:sp>
        <p:nvSpPr>
          <p:cNvPr id="3" name="Content Placeholder 2">
            <a:extLst>
              <a:ext uri="{FF2B5EF4-FFF2-40B4-BE49-F238E27FC236}">
                <a16:creationId xmlns:a16="http://schemas.microsoft.com/office/drawing/2014/main" id="{7E836A29-B3DC-5760-1323-004D2CEABADA}"/>
              </a:ext>
            </a:extLst>
          </p:cNvPr>
          <p:cNvSpPr>
            <a:spLocks noGrp="1"/>
          </p:cNvSpPr>
          <p:nvPr>
            <p:ph idx="1"/>
          </p:nvPr>
        </p:nvSpPr>
        <p:spPr/>
        <p:txBody>
          <a:bodyPr>
            <a:normAutofit/>
          </a:bodyPr>
          <a:lstStyle/>
          <a:p>
            <a:pPr marL="36900" indent="0">
              <a:buNone/>
            </a:pPr>
            <a:r>
              <a:rPr lang="el-GR" sz="2800" dirty="0"/>
              <a:t>Η εξέλιξη της τεχνολογίας έχει δώσει τη δυνατότητα στην παρακολούθηση να αποκτήσει νέα μορφή και να αυτοματοποιηθεί σε μεγάλο βαθμό. Η ηλεκτρονική παρακολούθηση  με τη συλλογή δεδομένων αντικαθιστά οποιαδήποτε φυσική. Παρέχεται η δυνατότητα εντοπισμού ενός ανθρώπου ανά πάσα στιγμή καθώς και προβλέπεται ο προορισμός του ατόμου.</a:t>
            </a:r>
            <a:endParaRPr lang="en-US" sz="2800" dirty="0"/>
          </a:p>
        </p:txBody>
      </p:sp>
    </p:spTree>
    <p:extLst>
      <p:ext uri="{BB962C8B-B14F-4D97-AF65-F5344CB8AC3E}">
        <p14:creationId xmlns:p14="http://schemas.microsoft.com/office/powerpoint/2010/main" val="38592967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FD98B-0ECA-10BD-0658-1E581E2FDB5A}"/>
              </a:ext>
            </a:extLst>
          </p:cNvPr>
          <p:cNvSpPr>
            <a:spLocks noGrp="1"/>
          </p:cNvSpPr>
          <p:nvPr>
            <p:ph type="title"/>
          </p:nvPr>
        </p:nvSpPr>
        <p:spPr/>
        <p:txBody>
          <a:bodyPr/>
          <a:lstStyle/>
          <a:p>
            <a:r>
              <a:rPr lang="el-GR" dirty="0"/>
              <a:t>Οι διαστάσεις της παρακολούθησης</a:t>
            </a:r>
            <a:endParaRPr lang="en-US" dirty="0"/>
          </a:p>
        </p:txBody>
      </p:sp>
      <p:sp>
        <p:nvSpPr>
          <p:cNvPr id="3" name="Content Placeholder 2">
            <a:extLst>
              <a:ext uri="{FF2B5EF4-FFF2-40B4-BE49-F238E27FC236}">
                <a16:creationId xmlns:a16="http://schemas.microsoft.com/office/drawing/2014/main" id="{FE0A8111-D4F1-7564-A8F2-89295DB05A64}"/>
              </a:ext>
            </a:extLst>
          </p:cNvPr>
          <p:cNvSpPr>
            <a:spLocks noGrp="1"/>
          </p:cNvSpPr>
          <p:nvPr>
            <p:ph idx="1"/>
          </p:nvPr>
        </p:nvSpPr>
        <p:spPr/>
        <p:txBody>
          <a:bodyPr>
            <a:normAutofit/>
          </a:bodyPr>
          <a:lstStyle/>
          <a:p>
            <a:r>
              <a:rPr lang="el-GR" sz="2400" dirty="0"/>
              <a:t>Παρατίθονται οι κύριοι άξονες γύρω από τους οποίους  πραγματοποιείται η παρακολούθηση. Αυτοί σχετίζονται με:</a:t>
            </a:r>
          </a:p>
          <a:p>
            <a:r>
              <a:rPr lang="el-GR" sz="2400" dirty="0"/>
              <a:t>Ποιος παρακολουθεί;</a:t>
            </a:r>
          </a:p>
          <a:p>
            <a:r>
              <a:rPr lang="el-GR" sz="2400" dirty="0"/>
              <a:t>Ποιος  παρακολουθείται;</a:t>
            </a:r>
          </a:p>
          <a:p>
            <a:r>
              <a:rPr lang="el-GR" sz="2400" dirty="0"/>
              <a:t>Τοποθεσία της παρακολούθησης</a:t>
            </a:r>
          </a:p>
          <a:p>
            <a:r>
              <a:rPr lang="el-GR" sz="2400" dirty="0"/>
              <a:t>Η χρονολογία της</a:t>
            </a:r>
          </a:p>
          <a:p>
            <a:r>
              <a:rPr lang="el-GR" sz="2400" dirty="0"/>
              <a:t>Με τι μέσα πραγματοποιείται;</a:t>
            </a:r>
          </a:p>
          <a:p>
            <a:r>
              <a:rPr lang="el-GR" sz="2400" dirty="0"/>
              <a:t>Ποιος ο λόγος παρακολούθησης και ποιος επωφελείται από αυτήν</a:t>
            </a:r>
            <a:r>
              <a:rPr lang="en-US" sz="2400" dirty="0"/>
              <a:t>;</a:t>
            </a:r>
          </a:p>
        </p:txBody>
      </p:sp>
    </p:spTree>
    <p:extLst>
      <p:ext uri="{BB962C8B-B14F-4D97-AF65-F5344CB8AC3E}">
        <p14:creationId xmlns:p14="http://schemas.microsoft.com/office/powerpoint/2010/main" val="3453238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451E8-AD77-50B4-2C00-7B1AA0E9AC6F}"/>
              </a:ext>
            </a:extLst>
          </p:cNvPr>
          <p:cNvSpPr>
            <a:spLocks noGrp="1"/>
          </p:cNvSpPr>
          <p:nvPr>
            <p:ph type="title"/>
          </p:nvPr>
        </p:nvSpPr>
        <p:spPr/>
        <p:txBody>
          <a:bodyPr/>
          <a:lstStyle/>
          <a:p>
            <a:r>
              <a:rPr lang="en-US" dirty="0"/>
              <a:t>Überveillance</a:t>
            </a:r>
          </a:p>
        </p:txBody>
      </p:sp>
      <p:sp>
        <p:nvSpPr>
          <p:cNvPr id="3" name="Content Placeholder 2">
            <a:extLst>
              <a:ext uri="{FF2B5EF4-FFF2-40B4-BE49-F238E27FC236}">
                <a16:creationId xmlns:a16="http://schemas.microsoft.com/office/drawing/2014/main" id="{F79F4B8F-899D-DA30-16CD-677306CF0ECC}"/>
              </a:ext>
            </a:extLst>
          </p:cNvPr>
          <p:cNvSpPr>
            <a:spLocks noGrp="1"/>
          </p:cNvSpPr>
          <p:nvPr>
            <p:ph idx="1"/>
          </p:nvPr>
        </p:nvSpPr>
        <p:spPr/>
        <p:txBody>
          <a:bodyPr>
            <a:normAutofit/>
          </a:bodyPr>
          <a:lstStyle/>
          <a:p>
            <a:pPr marL="36900" indent="0">
              <a:buNone/>
            </a:pPr>
            <a:r>
              <a:rPr lang="el-GR" sz="2800" dirty="0"/>
              <a:t>Γίνεται προσπάθεια απόδοσης ορισμού για τη λέξη </a:t>
            </a:r>
            <a:r>
              <a:rPr lang="en-US" sz="2800" dirty="0"/>
              <a:t>Überveillance</a:t>
            </a:r>
            <a:endParaRPr lang="el-GR" sz="2800" dirty="0"/>
          </a:p>
          <a:p>
            <a:pPr marL="36900" indent="0">
              <a:buNone/>
            </a:pPr>
            <a:r>
              <a:rPr lang="el-GR" sz="2800" dirty="0"/>
              <a:t>με τη πρώτη  να αφορά  την  εντατική παρακολούθηση του πληθυσμού όλο το 24ωρο .</a:t>
            </a:r>
          </a:p>
          <a:p>
            <a:pPr marL="36900" indent="0">
              <a:buNone/>
            </a:pPr>
            <a:r>
              <a:rPr lang="el-GR" sz="2800" dirty="0"/>
              <a:t>Μία άλλη προσέγγιση μελετά το πόσο εντατική είναι αυτή η παρακολούθηση όπου η εντατικότητα της παρακολούθησης εξαρτάται από πολυδιάστατους παράγοντες.</a:t>
            </a:r>
            <a:endParaRPr lang="en-US" sz="2800" dirty="0"/>
          </a:p>
        </p:txBody>
      </p:sp>
    </p:spTree>
    <p:extLst>
      <p:ext uri="{BB962C8B-B14F-4D97-AF65-F5344CB8AC3E}">
        <p14:creationId xmlns:p14="http://schemas.microsoft.com/office/powerpoint/2010/main" val="23736399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2F900-9BE5-7F2E-F133-FEDE302F1887}"/>
              </a:ext>
            </a:extLst>
          </p:cNvPr>
          <p:cNvSpPr>
            <a:spLocks noGrp="1"/>
          </p:cNvSpPr>
          <p:nvPr>
            <p:ph type="title"/>
          </p:nvPr>
        </p:nvSpPr>
        <p:spPr/>
        <p:txBody>
          <a:bodyPr/>
          <a:lstStyle/>
          <a:p>
            <a:r>
              <a:rPr lang="en-US" dirty="0"/>
              <a:t>Omni-Surveillance</a:t>
            </a:r>
          </a:p>
        </p:txBody>
      </p:sp>
      <p:sp>
        <p:nvSpPr>
          <p:cNvPr id="3" name="Content Placeholder 2">
            <a:extLst>
              <a:ext uri="{FF2B5EF4-FFF2-40B4-BE49-F238E27FC236}">
                <a16:creationId xmlns:a16="http://schemas.microsoft.com/office/drawing/2014/main" id="{D7EF3722-D534-53D4-8E77-F2DE3501DF96}"/>
              </a:ext>
            </a:extLst>
          </p:cNvPr>
          <p:cNvSpPr>
            <a:spLocks noGrp="1"/>
          </p:cNvSpPr>
          <p:nvPr>
            <p:ph idx="1"/>
          </p:nvPr>
        </p:nvSpPr>
        <p:spPr/>
        <p:txBody>
          <a:bodyPr>
            <a:normAutofit/>
          </a:bodyPr>
          <a:lstStyle/>
          <a:p>
            <a:r>
              <a:rPr lang="el-GR" sz="2800" dirty="0"/>
              <a:t>Μία αρκετά δυστοπική εκδοχή της </a:t>
            </a:r>
            <a:r>
              <a:rPr lang="en-US" sz="2800" dirty="0"/>
              <a:t>Überveillance</a:t>
            </a:r>
            <a:r>
              <a:rPr lang="el-GR" sz="2800" dirty="0"/>
              <a:t> είναι η </a:t>
            </a:r>
            <a:r>
              <a:rPr lang="en-US" sz="2800" dirty="0"/>
              <a:t>Omni-Surveillance </a:t>
            </a:r>
            <a:r>
              <a:rPr lang="el-GR" sz="2800" dirty="0"/>
              <a:t>όπου η ηλεκτρονική παρακολούθηση αποκτά νέα διάσταση .  Καταγράφεται λεπτομερώς και συνεχόμενα η δραστηριότητα του ατόμου στο χώρο και στο χρόνο. Ενώ θυμίζει σενάριο επιστημονικής φαντασίας υπάρχει ήδη η δομή ώστε να την υποστηρίξει όπως ολοκληρωμένα κυκλώματα </a:t>
            </a:r>
            <a:r>
              <a:rPr lang="el-GR" sz="2800"/>
              <a:t>ενσωματωμένα στις </a:t>
            </a:r>
            <a:r>
              <a:rPr lang="el-GR" sz="2800" dirty="0"/>
              <a:t>κινητές συσκευές του ανθρώπου ή ακόμη και στο σώμα του.</a:t>
            </a:r>
            <a:endParaRPr lang="en-US" sz="2800" dirty="0"/>
          </a:p>
        </p:txBody>
      </p:sp>
    </p:spTree>
    <p:extLst>
      <p:ext uri="{BB962C8B-B14F-4D97-AF65-F5344CB8AC3E}">
        <p14:creationId xmlns:p14="http://schemas.microsoft.com/office/powerpoint/2010/main" val="7592421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514DA-2672-9E9D-3BF4-01CB2D6EEA91}"/>
              </a:ext>
            </a:extLst>
          </p:cNvPr>
          <p:cNvSpPr>
            <a:spLocks noGrp="1"/>
          </p:cNvSpPr>
          <p:nvPr>
            <p:ph type="title"/>
          </p:nvPr>
        </p:nvSpPr>
        <p:spPr>
          <a:xfrm>
            <a:off x="913795" y="96349"/>
            <a:ext cx="10353762" cy="1636099"/>
          </a:xfrm>
        </p:spPr>
        <p:txBody>
          <a:bodyPr>
            <a:normAutofit/>
          </a:bodyPr>
          <a:lstStyle/>
          <a:p>
            <a:r>
              <a:rPr lang="el-GR" dirty="0"/>
              <a:t>Είναι αναξιόπιστες οι τεχνολογίες παρακολούθησης;</a:t>
            </a:r>
            <a:endParaRPr lang="en-US" dirty="0"/>
          </a:p>
        </p:txBody>
      </p:sp>
      <p:sp>
        <p:nvSpPr>
          <p:cNvPr id="3" name="Content Placeholder 2">
            <a:extLst>
              <a:ext uri="{FF2B5EF4-FFF2-40B4-BE49-F238E27FC236}">
                <a16:creationId xmlns:a16="http://schemas.microsoft.com/office/drawing/2014/main" id="{AAA70081-4348-CD9A-6417-0409C3740AA9}"/>
              </a:ext>
            </a:extLst>
          </p:cNvPr>
          <p:cNvSpPr>
            <a:spLocks noGrp="1"/>
          </p:cNvSpPr>
          <p:nvPr>
            <p:ph idx="1"/>
          </p:nvPr>
        </p:nvSpPr>
        <p:spPr>
          <a:xfrm>
            <a:off x="913795" y="1732449"/>
            <a:ext cx="10353762" cy="4767742"/>
          </a:xfrm>
        </p:spPr>
        <p:txBody>
          <a:bodyPr>
            <a:normAutofit/>
          </a:bodyPr>
          <a:lstStyle/>
          <a:p>
            <a:r>
              <a:rPr lang="el-GR" sz="2800" dirty="0"/>
              <a:t>Οι κυβερνήσεις στην προσπάθεια τους να δικαιολογήσουν την παρακολούθηση των πολιτών τους προβάλλουν  ανακρίβειες σχετικές με την αποτελεσματικότητα  αλλά και την ασφάλεια των  τεχνολογιών που χρησιμοποιούνται στην παρακολούθηση όπως οι βιομετρικές υπηρεσίες και υπηρεσίες τοποθεσίας.</a:t>
            </a:r>
          </a:p>
          <a:p>
            <a:r>
              <a:rPr lang="el-GR" sz="2800" dirty="0"/>
              <a:t>Ο οικονομικός κλάδος και ιδιαίτερα οι επιχειρήσεις δεν έχουν συμφέρον από την παρακολούθηση του ανθρώπινου δυναμικού τους.</a:t>
            </a:r>
            <a:endParaRPr lang="en-US" sz="2800" dirty="0"/>
          </a:p>
        </p:txBody>
      </p:sp>
    </p:spTree>
    <p:extLst>
      <p:ext uri="{BB962C8B-B14F-4D97-AF65-F5344CB8AC3E}">
        <p14:creationId xmlns:p14="http://schemas.microsoft.com/office/powerpoint/2010/main" val="27122987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5DA2A-FCCF-8A2A-1968-2E2222687A74}"/>
              </a:ext>
            </a:extLst>
          </p:cNvPr>
          <p:cNvSpPr>
            <a:spLocks noGrp="1"/>
          </p:cNvSpPr>
          <p:nvPr>
            <p:ph type="title"/>
          </p:nvPr>
        </p:nvSpPr>
        <p:spPr/>
        <p:txBody>
          <a:bodyPr/>
          <a:lstStyle/>
          <a:p>
            <a:r>
              <a:rPr lang="el-GR" dirty="0"/>
              <a:t>Προτάσεις και συμπεράσματα...</a:t>
            </a:r>
            <a:endParaRPr lang="en-US" dirty="0"/>
          </a:p>
        </p:txBody>
      </p:sp>
      <p:sp>
        <p:nvSpPr>
          <p:cNvPr id="3" name="Content Placeholder 2">
            <a:extLst>
              <a:ext uri="{FF2B5EF4-FFF2-40B4-BE49-F238E27FC236}">
                <a16:creationId xmlns:a16="http://schemas.microsoft.com/office/drawing/2014/main" id="{0052045E-8B4F-3760-5B53-48D607815A41}"/>
              </a:ext>
            </a:extLst>
          </p:cNvPr>
          <p:cNvSpPr>
            <a:spLocks noGrp="1"/>
          </p:cNvSpPr>
          <p:nvPr>
            <p:ph idx="1"/>
          </p:nvPr>
        </p:nvSpPr>
        <p:spPr/>
        <p:txBody>
          <a:bodyPr>
            <a:normAutofit/>
          </a:bodyPr>
          <a:lstStyle/>
          <a:p>
            <a:r>
              <a:rPr lang="el-GR" sz="2800" dirty="0"/>
              <a:t>Αν και η μαζική ηλεκτρονική παρακολούθηση δημιουργήθηκε ως απάντηση στην τρομοκρατία  ο ερευνητής προτείνει  λύσεις προκειμένου να μην οδηγηθεί ο κόσμος σε μία δυστοπία. Προτείνει μεταξύ άλλων:</a:t>
            </a:r>
          </a:p>
          <a:p>
            <a:r>
              <a:rPr lang="el-GR" sz="2800" dirty="0"/>
              <a:t>Ανεξάρτητη  αξιολόγηση των τεχνολογιών παρακολούθησης</a:t>
            </a:r>
            <a:r>
              <a:rPr lang="en-US" sz="2800" dirty="0"/>
              <a:t> </a:t>
            </a:r>
            <a:r>
              <a:rPr lang="el-GR" sz="2800" dirty="0"/>
              <a:t>απαλλαγμένη από κυβερνητικούς φορείς.</a:t>
            </a:r>
          </a:p>
          <a:p>
            <a:r>
              <a:rPr lang="el-GR" sz="2800" dirty="0"/>
              <a:t>Κριτική από τους απλούς ανθρώπους για τις τεχνικές παρακολούθησης , ενεργή συμμετοχή τους στη συζήτηση</a:t>
            </a:r>
            <a:endParaRPr lang="en-US" sz="2800" dirty="0"/>
          </a:p>
        </p:txBody>
      </p:sp>
    </p:spTree>
    <p:extLst>
      <p:ext uri="{BB962C8B-B14F-4D97-AF65-F5344CB8AC3E}">
        <p14:creationId xmlns:p14="http://schemas.microsoft.com/office/powerpoint/2010/main" val="24988430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DE578-553B-1CEB-3244-0724678242BC}"/>
              </a:ext>
            </a:extLst>
          </p:cNvPr>
          <p:cNvSpPr>
            <a:spLocks noGrp="1"/>
          </p:cNvSpPr>
          <p:nvPr>
            <p:ph type="title"/>
          </p:nvPr>
        </p:nvSpPr>
        <p:spPr/>
        <p:txBody>
          <a:bodyPr/>
          <a:lstStyle/>
          <a:p>
            <a:r>
              <a:rPr lang="el-GR" dirty="0"/>
              <a:t>Και άλλες λύσεις...</a:t>
            </a:r>
            <a:endParaRPr lang="en-US" dirty="0"/>
          </a:p>
        </p:txBody>
      </p:sp>
      <p:sp>
        <p:nvSpPr>
          <p:cNvPr id="3" name="Content Placeholder 2">
            <a:extLst>
              <a:ext uri="{FF2B5EF4-FFF2-40B4-BE49-F238E27FC236}">
                <a16:creationId xmlns:a16="http://schemas.microsoft.com/office/drawing/2014/main" id="{D06785C6-1552-25CC-5FE5-32142490E908}"/>
              </a:ext>
            </a:extLst>
          </p:cNvPr>
          <p:cNvSpPr>
            <a:spLocks noGrp="1"/>
          </p:cNvSpPr>
          <p:nvPr>
            <p:ph idx="1"/>
          </p:nvPr>
        </p:nvSpPr>
        <p:spPr>
          <a:xfrm>
            <a:off x="913795" y="1732449"/>
            <a:ext cx="10353762" cy="4986403"/>
          </a:xfrm>
        </p:spPr>
        <p:txBody>
          <a:bodyPr>
            <a:normAutofit lnSpcReduction="10000"/>
          </a:bodyPr>
          <a:lstStyle/>
          <a:p>
            <a:r>
              <a:rPr lang="el-GR" sz="2800" dirty="0"/>
              <a:t>Ενημέρωση του κοινού για τους μελλοντικούς κινδύνους</a:t>
            </a:r>
            <a:r>
              <a:rPr lang="en-US" sz="2800" dirty="0"/>
              <a:t> </a:t>
            </a:r>
            <a:r>
              <a:rPr lang="el-GR" sz="2800" dirty="0"/>
              <a:t>που επιφυλλάσσει η </a:t>
            </a:r>
            <a:r>
              <a:rPr lang="en-US" sz="2800" dirty="0"/>
              <a:t>Überveillance </a:t>
            </a:r>
            <a:r>
              <a:rPr lang="el-GR" sz="2800" dirty="0"/>
              <a:t>και για τις τεχνολογίες που χρησιμοποίει.</a:t>
            </a:r>
          </a:p>
          <a:p>
            <a:r>
              <a:rPr lang="el-GR" sz="2800" dirty="0"/>
              <a:t>Ειλικρίνεια, επικοινωνία και εμπιστοσύνη μεταξύ των πολιτών με τις υπηρεσίες πληροφοριών και ασφαλείας σχετικά με τους σκοπούς της παρακολούθησης.</a:t>
            </a:r>
          </a:p>
          <a:p>
            <a:r>
              <a:rPr lang="el-GR" sz="2800" dirty="0"/>
              <a:t>Σχεδιασμός των τεχνολογιών με γνώμονα την ανωνυμία του χρήστη και την ισορροπία αυτής με την ασφάλεια του.</a:t>
            </a:r>
          </a:p>
          <a:p>
            <a:r>
              <a:rPr lang="el-GR" sz="2800" dirty="0"/>
              <a:t>Αντιμετώπιση των φονταμενταλιστών της ασφάλειας με την ίδια σοβαρότητα  που θα αντιμετωπιζόταν μία τρομοκρατική απειλή.</a:t>
            </a:r>
          </a:p>
        </p:txBody>
      </p:sp>
    </p:spTree>
    <p:extLst>
      <p:ext uri="{BB962C8B-B14F-4D97-AF65-F5344CB8AC3E}">
        <p14:creationId xmlns:p14="http://schemas.microsoft.com/office/powerpoint/2010/main" val="23929194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8918D-88F5-A95E-7407-20B4A5F659C8}"/>
              </a:ext>
            </a:extLst>
          </p:cNvPr>
          <p:cNvSpPr>
            <a:spLocks noGrp="1"/>
          </p:cNvSpPr>
          <p:nvPr>
            <p:ph type="title"/>
          </p:nvPr>
        </p:nvSpPr>
        <p:spPr/>
        <p:txBody>
          <a:bodyPr/>
          <a:lstStyle/>
          <a:p>
            <a:r>
              <a:rPr lang="el-GR" dirty="0"/>
              <a:t>Σας Ευχαριστούμε πολύ!</a:t>
            </a:r>
            <a:endParaRPr lang="en-US" dirty="0"/>
          </a:p>
        </p:txBody>
      </p:sp>
      <p:sp>
        <p:nvSpPr>
          <p:cNvPr id="3" name="Content Placeholder 2">
            <a:extLst>
              <a:ext uri="{FF2B5EF4-FFF2-40B4-BE49-F238E27FC236}">
                <a16:creationId xmlns:a16="http://schemas.microsoft.com/office/drawing/2014/main" id="{95C48C05-558A-2D9F-C0F5-7D57BE6E7CE7}"/>
              </a:ext>
            </a:extLst>
          </p:cNvPr>
          <p:cNvSpPr>
            <a:spLocks noGrp="1"/>
          </p:cNvSpPr>
          <p:nvPr>
            <p:ph idx="1"/>
          </p:nvPr>
        </p:nvSpPr>
        <p:spPr/>
        <p:txBody>
          <a:bodyPr>
            <a:normAutofit/>
          </a:bodyPr>
          <a:lstStyle/>
          <a:p>
            <a:pPr marL="36900" indent="0" algn="ctr">
              <a:buNone/>
            </a:pPr>
            <a:r>
              <a:rPr lang="el-GR" sz="6600" dirty="0"/>
              <a:t>Ερωτήσεις ;</a:t>
            </a:r>
            <a:endParaRPr lang="en-US" sz="6600" dirty="0"/>
          </a:p>
        </p:txBody>
      </p:sp>
    </p:spTree>
    <p:extLst>
      <p:ext uri="{BB962C8B-B14F-4D97-AF65-F5344CB8AC3E}">
        <p14:creationId xmlns:p14="http://schemas.microsoft.com/office/powerpoint/2010/main" val="9218533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F38B4-62D4-F58D-6EC5-FF5AEE067406}"/>
              </a:ext>
            </a:extLst>
          </p:cNvPr>
          <p:cNvSpPr>
            <a:spLocks noGrp="1"/>
          </p:cNvSpPr>
          <p:nvPr>
            <p:ph type="ctrTitle"/>
          </p:nvPr>
        </p:nvSpPr>
        <p:spPr/>
        <p:txBody>
          <a:bodyPr/>
          <a:lstStyle/>
          <a:p>
            <a:r>
              <a:rPr lang="el-GR" dirty="0"/>
              <a:t>Αναφορές</a:t>
            </a:r>
            <a:endParaRPr lang="en-US" dirty="0"/>
          </a:p>
        </p:txBody>
      </p:sp>
      <p:sp>
        <p:nvSpPr>
          <p:cNvPr id="3" name="Subtitle 2">
            <a:extLst>
              <a:ext uri="{FF2B5EF4-FFF2-40B4-BE49-F238E27FC236}">
                <a16:creationId xmlns:a16="http://schemas.microsoft.com/office/drawing/2014/main" id="{A4B08C90-F821-CE17-471D-B6E72604A020}"/>
              </a:ext>
            </a:extLst>
          </p:cNvPr>
          <p:cNvSpPr>
            <a:spLocks noGrp="1"/>
          </p:cNvSpPr>
          <p:nvPr>
            <p:ph type="subTitle" idx="1"/>
          </p:nvPr>
        </p:nvSpPr>
        <p:spPr>
          <a:xfrm>
            <a:off x="1370693" y="3598339"/>
            <a:ext cx="9440034" cy="1828801"/>
          </a:xfrm>
        </p:spPr>
        <p:txBody>
          <a:bodyPr>
            <a:noAutofit/>
          </a:bodyPr>
          <a:lstStyle/>
          <a:p>
            <a:pPr algn="l"/>
            <a:r>
              <a:rPr lang="en-US" sz="2800" dirty="0"/>
              <a:t>Roger Clarke</a:t>
            </a:r>
            <a:r>
              <a:rPr lang="el-GR" sz="2800" dirty="0"/>
              <a:t>,</a:t>
            </a:r>
            <a:r>
              <a:rPr lang="en-US" sz="2800" dirty="0"/>
              <a:t>What is Überveillance? (And What Should Be Done About It?)</a:t>
            </a:r>
            <a:r>
              <a:rPr lang="el-GR" sz="2800" dirty="0"/>
              <a:t>, </a:t>
            </a:r>
            <a:r>
              <a:rPr lang="en-US" sz="2800" dirty="0"/>
              <a:t>Ieee Technology and Society Magazine, Summer 2020</a:t>
            </a:r>
          </a:p>
        </p:txBody>
      </p:sp>
    </p:spTree>
    <p:extLst>
      <p:ext uri="{BB962C8B-B14F-4D97-AF65-F5344CB8AC3E}">
        <p14:creationId xmlns:p14="http://schemas.microsoft.com/office/powerpoint/2010/main" val="153376953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Slate</Template>
  <TotalTime>240</TotalTime>
  <Words>451</Words>
  <Application>Microsoft Office PowerPoint</Application>
  <PresentationFormat>Widescreen</PresentationFormat>
  <Paragraphs>36</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Calisto MT</vt:lpstr>
      <vt:lpstr>Wingdings 2</vt:lpstr>
      <vt:lpstr>Slate</vt:lpstr>
      <vt:lpstr>Ηλεκτρονική Παρακολούθηση: Μία νέα πρόκληση στον 21ο αιώνα</vt:lpstr>
      <vt:lpstr>Νέα μορφή παρακολούθησης</vt:lpstr>
      <vt:lpstr>Οι διαστάσεις της παρακολούθησης</vt:lpstr>
      <vt:lpstr>Überveillance</vt:lpstr>
      <vt:lpstr>Omni-Surveillance</vt:lpstr>
      <vt:lpstr>Είναι αναξιόπιστες οι τεχνολογίες παρακολούθησης;</vt:lpstr>
      <vt:lpstr>Προτάσεις και συμπεράσματα...</vt:lpstr>
      <vt:lpstr>Και άλλες λύσεις...</vt:lpstr>
      <vt:lpstr>Σας Ευχαριστούμε πολύ!</vt:lpstr>
      <vt:lpstr>Αναφορές</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ΒΕΡΓΟΣ ΓΕΩΡΓΙΟΣ</dc:creator>
  <cp:lastModifiedBy>ΒΕΡΓΟΣ ΓΕΩΡΓΙΟΣ</cp:lastModifiedBy>
  <cp:revision>11</cp:revision>
  <dcterms:created xsi:type="dcterms:W3CDTF">2022-06-02T12:43:57Z</dcterms:created>
  <dcterms:modified xsi:type="dcterms:W3CDTF">2022-06-02T16:45:54Z</dcterms:modified>
</cp:coreProperties>
</file>